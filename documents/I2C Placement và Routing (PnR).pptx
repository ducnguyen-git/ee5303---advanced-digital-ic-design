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5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MINH DUC" userId="ca8142ac-e074-4f73-8a70-437c07002525" providerId="ADAL" clId="{58DCBCF8-EAB0-4302-9CF7-5D09A6E16311}"/>
    <pc:docChg chg="modSld">
      <pc:chgData name="NGUYEN MINH DUC" userId="ca8142ac-e074-4f73-8a70-437c07002525" providerId="ADAL" clId="{58DCBCF8-EAB0-4302-9CF7-5D09A6E16311}" dt="2026-04-13T01:44:15.461" v="17" actId="20577"/>
      <pc:docMkLst>
        <pc:docMk/>
      </pc:docMkLst>
      <pc:sldChg chg="modSp mod">
        <pc:chgData name="NGUYEN MINH DUC" userId="ca8142ac-e074-4f73-8a70-437c07002525" providerId="ADAL" clId="{58DCBCF8-EAB0-4302-9CF7-5D09A6E16311}" dt="2026-04-13T01:44:15.461" v="17" actId="20577"/>
        <pc:sldMkLst>
          <pc:docMk/>
          <pc:sldMk cId="94288033" sldId="259"/>
        </pc:sldMkLst>
        <pc:spChg chg="mod">
          <ac:chgData name="NGUYEN MINH DUC" userId="ca8142ac-e074-4f73-8a70-437c07002525" providerId="ADAL" clId="{58DCBCF8-EAB0-4302-9CF7-5D09A6E16311}" dt="2026-04-13T01:44:15.461" v="17" actId="20577"/>
          <ac:spMkLst>
            <pc:docMk/>
            <pc:sldMk cId="94288033" sldId="259"/>
            <ac:spMk id="3" creationId="{CC261393-CBB9-9A70-0972-DC512971F10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FF6F-55A7-FEF9-B270-D022223E1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C1600-9B67-946B-F2F4-94F796D8E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83720-9E37-353E-3D59-F2FCADB9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18DE3-3CC0-DF89-A818-F3161DCE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A2E7D-0B4E-A37E-3821-336A1568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5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CFE2-7C52-3CF8-2336-FFCC599A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4EB74-65D1-641C-C2DB-2E2358D32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1EB7D-7A6D-4B86-E12A-376622E4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92D6-91B5-B053-370A-24652D1A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7279C-6431-E4C4-8AE7-AF91B8A9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1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A506-3AF4-8341-0465-26CEC093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8D382-B6ED-74F3-1795-F10E6C932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8234-9BD0-174C-5203-454B5136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1BFF-1EBE-315B-0E16-50EC382F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267B-04EA-C5A5-F1F7-41D5A0DB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2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7D65-68D1-2BBB-DF60-43321A1C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38C7-0A59-207D-12D1-C241E0EEF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D2CD3-B67D-D2E2-6C69-0FD53694D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1B391-0EED-A5B8-0666-245E03BD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90B1B-F13C-98DA-6865-29B8267B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7E023-1C1A-1DE5-A8D2-1C278A36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1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6F13-8066-5A60-51A1-EB7F3B2C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62C05-9CA1-4C22-96CE-7A5D15870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6091D-F579-661C-64B2-DB9552A30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2DAB2-441C-01ED-5E9C-CF0560ECB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8B0AF-4DF9-72E5-D0CE-E736FB3F4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E3764-5FDE-7EDF-40DF-806EF0A2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29A253-DD3F-F2B8-C141-93D7FE7A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A33AF5-4173-D2A7-AA07-8C6D86CB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478C-FEC5-6118-5CF2-AFE1DE31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D27CB-95DE-B56B-D4DD-89F7CFFA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F4FBB-A5F5-314E-11E2-EE2CFF77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D8F5B-915F-4F6A-2D66-47259C1A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5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941A3-1B64-3D8B-5DBC-911D6729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0004C-6A96-DBC7-B9A0-567C9D8C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7BC13-5C7D-B28D-82FA-C24E4058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9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6DD4-D7F6-AFDC-2F15-4C424FEE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E3D9-CB94-E69A-613F-E0C56FFE9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6193C-D6B6-3973-9F14-800438743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15C7F-D1BB-F34D-944F-5CEDDA78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E2A8A-9B6F-EE54-B60A-1E42EA17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6E9A6-0F63-5C2C-D0C8-2547CC4C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5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AA40-D497-396F-7FAF-7E941599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EF4FB-85A7-96BF-DC1A-E5086A6D5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1FE93-4F89-23D3-5A05-557BEABA3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D673F-AE42-E927-29C2-857368A7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D67C-1758-42D2-A780-075A5D3B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B42A3-1A56-6F79-8624-14D37FAF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6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CBAE-2F37-9F57-F271-C33012A3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602D9-012B-F844-E134-80004A995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02E9B-1448-237B-32A4-662BB637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E239B-1151-F25A-3598-ED1B5819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7F01-F2A6-1F90-2177-F13FAF1A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1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1E85D-BFB0-C183-0D1C-6E8BF5091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CEB7B-294D-CBDC-5112-97E9B2CFB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47ABE-A88A-BB49-DB55-1D9A35F8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ECAE-3DF4-E7F5-F503-EC379BBD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4C062-6A04-32AE-FC82-00C1C168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4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20FAB-7214-3775-37D0-9C24C33F5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2BE0C-DC38-3CC5-6524-09C4FE900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266EF-69AD-7795-783B-20DADCA7E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0EF83-74ED-42FA-B9FC-E7111CC3426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E1180-CAB5-C2BC-BB65-BCEF15675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C3ADD-A081-6F31-4400-4944CB353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AC3BB-94B0-4361-B02C-15A35081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9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1586-0DE4-7670-31BF-3E3F17026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07"/>
            <a:ext cx="10515600" cy="1325563"/>
          </a:xfrm>
        </p:spPr>
        <p:txBody>
          <a:bodyPr/>
          <a:lstStyle/>
          <a:p>
            <a:r>
              <a:rPr lang="en-US" dirty="0"/>
              <a:t>I2C Placement </a:t>
            </a:r>
            <a:r>
              <a:rPr lang="en-US" dirty="0" err="1"/>
              <a:t>và</a:t>
            </a:r>
            <a:r>
              <a:rPr lang="en-US" dirty="0"/>
              <a:t> Routing (</a:t>
            </a:r>
            <a:r>
              <a:rPr lang="en-US" dirty="0" err="1"/>
              <a:t>PnR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1393-CBB9-9A70-0972-DC512971F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806"/>
            <a:ext cx="10515600" cy="2962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Tool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:</a:t>
            </a:r>
          </a:p>
          <a:p>
            <a:r>
              <a:rPr lang="en-US" dirty="0" err="1"/>
              <a:t>OpenLANE</a:t>
            </a:r>
            <a:r>
              <a:rPr lang="en-US" dirty="0"/>
              <a:t> tool (</a:t>
            </a:r>
            <a:r>
              <a:rPr lang="en-US" dirty="0" err="1"/>
              <a:t>LibreLane</a:t>
            </a:r>
            <a:r>
              <a:rPr lang="en-US" dirty="0"/>
              <a:t>)</a:t>
            </a:r>
          </a:p>
          <a:p>
            <a:r>
              <a:rPr lang="en-US" dirty="0"/>
              <a:t>Sky130 PDK</a:t>
            </a:r>
          </a:p>
          <a:p>
            <a:r>
              <a:rPr lang="en-US" dirty="0"/>
              <a:t>Sky130_fd_sc_hc</a:t>
            </a:r>
          </a:p>
          <a:p>
            <a:pPr marL="0" indent="0">
              <a:buNone/>
            </a:pP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PnR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E31C99-8AFE-F715-C129-2034BBF46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98013"/>
              </p:ext>
            </p:extLst>
          </p:nvPr>
        </p:nvGraphicFramePr>
        <p:xfrm>
          <a:off x="995362" y="3771893"/>
          <a:ext cx="10734675" cy="243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935">
                  <a:extLst>
                    <a:ext uri="{9D8B030D-6E8A-4147-A177-3AD203B41FA5}">
                      <a16:colId xmlns:a16="http://schemas.microsoft.com/office/drawing/2014/main" val="2440301622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1439966037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91523214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4097325103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1437337066"/>
                    </a:ext>
                  </a:extLst>
                </a:gridCol>
              </a:tblGrid>
              <a:tr h="519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Env Variables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STA Violations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DRC Violations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LVS Violations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Antenna Violations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31112069"/>
                  </a:ext>
                </a:extLst>
              </a:tr>
              <a:tr h="519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effectLst/>
                        </a:rPr>
                        <a:t>clk=20ns</a:t>
                      </a:r>
                      <a:br>
                        <a:rPr lang="da-DK" dirty="0">
                          <a:effectLst/>
                        </a:rPr>
                      </a:br>
                      <a:r>
                        <a:rPr lang="da-DK" dirty="0">
                          <a:effectLst/>
                        </a:rPr>
                        <a:t>fp_util=49%</a:t>
                      </a:r>
                    </a:p>
                  </a:txBody>
                  <a:tcPr marL="99060" marR="9906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setup=0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hold=0</a:t>
                      </a:r>
                    </a:p>
                  </a:txBody>
                  <a:tcPr marL="99060" marR="9906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364631"/>
                  </a:ext>
                </a:extLst>
              </a:tr>
              <a:tr h="519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clk=10ns</a:t>
                      </a:r>
                      <a:br>
                        <a:rPr lang="da-DK">
                          <a:effectLst/>
                        </a:rPr>
                      </a:br>
                      <a:r>
                        <a:rPr lang="da-DK">
                          <a:effectLst/>
                        </a:rPr>
                        <a:t>fp_util=40%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setup=0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hold=0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pins:1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nets:1</a:t>
                      </a:r>
                    </a:p>
                  </a:txBody>
                  <a:tcPr marL="99060" marR="9906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24523"/>
                  </a:ext>
                </a:extLst>
              </a:tr>
              <a:tr h="519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effectLst/>
                        </a:rPr>
                        <a:t>clk=10ns</a:t>
                      </a:r>
                      <a:br>
                        <a:rPr lang="da-DK">
                          <a:effectLst/>
                        </a:rPr>
                      </a:br>
                      <a:r>
                        <a:rPr lang="da-DK">
                          <a:effectLst/>
                        </a:rPr>
                        <a:t>fp_util=49%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setup=0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hold=0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pins:1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nets:1</a:t>
                      </a:r>
                    </a:p>
                  </a:txBody>
                  <a:tcPr marL="99060" marR="9906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1437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08DE69-C920-4CB8-B3BE-3315877E38E7}"/>
              </a:ext>
            </a:extLst>
          </p:cNvPr>
          <p:cNvSpPr txBox="1"/>
          <p:nvPr/>
        </p:nvSpPr>
        <p:spPr>
          <a:xfrm>
            <a:off x="995362" y="6364836"/>
            <a:ext cx="264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=&gt;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8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9E9D-3918-148A-ECB7-C4286535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0C7F-CFD6-7F25-C6D6-D12E7FF7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07"/>
            <a:ext cx="10515600" cy="1325563"/>
          </a:xfrm>
        </p:spPr>
        <p:txBody>
          <a:bodyPr/>
          <a:lstStyle/>
          <a:p>
            <a:r>
              <a:rPr lang="en-US" dirty="0"/>
              <a:t>I2C Placement </a:t>
            </a:r>
            <a:r>
              <a:rPr lang="en-US" dirty="0" err="1"/>
              <a:t>và</a:t>
            </a:r>
            <a:r>
              <a:rPr lang="en-US" dirty="0"/>
              <a:t> Routing (</a:t>
            </a:r>
            <a:r>
              <a:rPr lang="en-US" dirty="0" err="1"/>
              <a:t>PnR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EE21-4AD2-8C7C-D93C-23DD0CA2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806"/>
            <a:ext cx="10515600" cy="2962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 worst setup slack</a:t>
            </a:r>
          </a:p>
        </p:txBody>
      </p:sp>
      <p:pic>
        <p:nvPicPr>
          <p:cNvPr id="1026" name="Picture 2" descr="setup_slack_1">
            <a:extLst>
              <a:ext uri="{FF2B5EF4-FFF2-40B4-BE49-F238E27FC236}">
                <a16:creationId xmlns:a16="http://schemas.microsoft.com/office/drawing/2014/main" id="{B2312EBE-3D32-ECB2-88D3-26642BF58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61" y="1662596"/>
            <a:ext cx="4349262" cy="510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tup_slack_2">
            <a:extLst>
              <a:ext uri="{FF2B5EF4-FFF2-40B4-BE49-F238E27FC236}">
                <a16:creationId xmlns:a16="http://schemas.microsoft.com/office/drawing/2014/main" id="{591503B6-948B-6076-A2B0-9D5FBAB1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462" y="1662596"/>
            <a:ext cx="6330461" cy="1908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12191F-C929-471E-AE38-5A3BECEDBC60}"/>
              </a:ext>
            </a:extLst>
          </p:cNvPr>
          <p:cNvSpPr/>
          <p:nvPr/>
        </p:nvSpPr>
        <p:spPr>
          <a:xfrm>
            <a:off x="7758113" y="3257550"/>
            <a:ext cx="1757362" cy="313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FA13A-1495-F3BF-5EB9-52D6EEA11EFE}"/>
              </a:ext>
            </a:extLst>
          </p:cNvPr>
          <p:cNvSpPr txBox="1"/>
          <p:nvPr/>
        </p:nvSpPr>
        <p:spPr>
          <a:xfrm>
            <a:off x="7787238" y="4096386"/>
            <a:ext cx="220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setup slack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FCFF536B-4DE0-D4BE-8C37-AF307AF7215C}"/>
              </a:ext>
            </a:extLst>
          </p:cNvPr>
          <p:cNvSpPr/>
          <p:nvPr/>
        </p:nvSpPr>
        <p:spPr>
          <a:xfrm>
            <a:off x="7048684" y="3325077"/>
            <a:ext cx="668215" cy="1115096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74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EB6A-C357-CE70-F957-D43AC52B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ld_slack">
            <a:extLst>
              <a:ext uri="{FF2B5EF4-FFF2-40B4-BE49-F238E27FC236}">
                <a16:creationId xmlns:a16="http://schemas.microsoft.com/office/drawing/2014/main" id="{66CE17A7-0F8E-AE32-BBF9-12537FCD6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01" y="1696914"/>
            <a:ext cx="7528413" cy="508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D47AB-2718-EF98-1B70-1257A59E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07"/>
            <a:ext cx="10515600" cy="1325563"/>
          </a:xfrm>
        </p:spPr>
        <p:txBody>
          <a:bodyPr/>
          <a:lstStyle/>
          <a:p>
            <a:r>
              <a:rPr lang="en-US" dirty="0"/>
              <a:t>I2C Placement </a:t>
            </a:r>
            <a:r>
              <a:rPr lang="en-US" dirty="0" err="1"/>
              <a:t>và</a:t>
            </a:r>
            <a:r>
              <a:rPr lang="en-US" dirty="0"/>
              <a:t> Routing (</a:t>
            </a:r>
            <a:r>
              <a:rPr lang="en-US" dirty="0" err="1"/>
              <a:t>PnR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E64F-751B-790E-68DF-CE6799B65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806"/>
            <a:ext cx="10515600" cy="2962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 worst hold slack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F288D-0AA2-D158-6B79-80BB48BC8438}"/>
              </a:ext>
            </a:extLst>
          </p:cNvPr>
          <p:cNvSpPr/>
          <p:nvPr/>
        </p:nvSpPr>
        <p:spPr>
          <a:xfrm>
            <a:off x="3704858" y="6456267"/>
            <a:ext cx="1834296" cy="3139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04735-B2F3-BCBF-39DE-5951C8E94156}"/>
              </a:ext>
            </a:extLst>
          </p:cNvPr>
          <p:cNvSpPr txBox="1"/>
          <p:nvPr/>
        </p:nvSpPr>
        <p:spPr>
          <a:xfrm>
            <a:off x="8675262" y="6428576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hold slack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0482F97-1939-B8BD-1047-56F45ABDBBF6}"/>
              </a:ext>
            </a:extLst>
          </p:cNvPr>
          <p:cNvSpPr/>
          <p:nvPr/>
        </p:nvSpPr>
        <p:spPr>
          <a:xfrm>
            <a:off x="5846885" y="6456266"/>
            <a:ext cx="2708030" cy="31395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6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527DF-4728-7818-1746-FAD0A6E8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AB71-AAC6-CD29-5DD1-DA07FA9F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07"/>
            <a:ext cx="10515600" cy="1325563"/>
          </a:xfrm>
        </p:spPr>
        <p:txBody>
          <a:bodyPr/>
          <a:lstStyle/>
          <a:p>
            <a:r>
              <a:rPr lang="en-US" dirty="0"/>
              <a:t>I2C Placement </a:t>
            </a:r>
            <a:r>
              <a:rPr lang="en-US" dirty="0" err="1"/>
              <a:t>và</a:t>
            </a:r>
            <a:r>
              <a:rPr lang="en-US" dirty="0"/>
              <a:t> Routing (</a:t>
            </a:r>
            <a:r>
              <a:rPr lang="en-US" dirty="0" err="1"/>
              <a:t>PnR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DC7E5-B266-548F-5679-02B72FA3D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806"/>
            <a:ext cx="10515600" cy="50593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DRC (Design Rule check)</a:t>
            </a:r>
          </a:p>
        </p:txBody>
      </p:sp>
      <p:pic>
        <p:nvPicPr>
          <p:cNvPr id="3074" name="Picture 2" descr="DRC_summary">
            <a:extLst>
              <a:ext uri="{FF2B5EF4-FFF2-40B4-BE49-F238E27FC236}">
                <a16:creationId xmlns:a16="http://schemas.microsoft.com/office/drawing/2014/main" id="{DA3A5EE2-2D15-C572-A134-54882BFC7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52" y="1672737"/>
            <a:ext cx="92392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0CF74C-BCFB-B7F3-46AC-A0631EDD0EA5}"/>
              </a:ext>
            </a:extLst>
          </p:cNvPr>
          <p:cNvSpPr/>
          <p:nvPr/>
        </p:nvSpPr>
        <p:spPr>
          <a:xfrm>
            <a:off x="931252" y="2048608"/>
            <a:ext cx="2902194" cy="2527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46BDC1E-9F71-7B9B-9016-AAF0E3283EBA}"/>
              </a:ext>
            </a:extLst>
          </p:cNvPr>
          <p:cNvSpPr txBox="1">
            <a:spLocks/>
          </p:cNvSpPr>
          <p:nvPr/>
        </p:nvSpPr>
        <p:spPr>
          <a:xfrm>
            <a:off x="838200" y="2492369"/>
            <a:ext cx="10515600" cy="505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LVS (Layout Versus Schematic)</a:t>
            </a:r>
          </a:p>
        </p:txBody>
      </p:sp>
      <p:pic>
        <p:nvPicPr>
          <p:cNvPr id="3076" name="Picture 4" descr="LVS_summary">
            <a:extLst>
              <a:ext uri="{FF2B5EF4-FFF2-40B4-BE49-F238E27FC236}">
                <a16:creationId xmlns:a16="http://schemas.microsoft.com/office/drawing/2014/main" id="{289A0CD7-9843-D3C4-30A0-2D8E4161E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52" y="2998300"/>
            <a:ext cx="9239250" cy="63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0F841D-7D67-CF5C-E594-C6D1F9876646}"/>
              </a:ext>
            </a:extLst>
          </p:cNvPr>
          <p:cNvSpPr/>
          <p:nvPr/>
        </p:nvSpPr>
        <p:spPr>
          <a:xfrm>
            <a:off x="931252" y="3316332"/>
            <a:ext cx="4243754" cy="3180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55612E3-1B61-5455-E99E-2A0E4DF1DFB2}"/>
              </a:ext>
            </a:extLst>
          </p:cNvPr>
          <p:cNvSpPr txBox="1">
            <a:spLocks/>
          </p:cNvSpPr>
          <p:nvPr/>
        </p:nvSpPr>
        <p:spPr>
          <a:xfrm>
            <a:off x="838200" y="3817932"/>
            <a:ext cx="10515600" cy="505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Antenna</a:t>
            </a:r>
          </a:p>
        </p:txBody>
      </p:sp>
      <p:pic>
        <p:nvPicPr>
          <p:cNvPr id="3078" name="Picture 6" descr="Antenna_summary">
            <a:extLst>
              <a:ext uri="{FF2B5EF4-FFF2-40B4-BE49-F238E27FC236}">
                <a16:creationId xmlns:a16="http://schemas.microsoft.com/office/drawing/2014/main" id="{81E22EA2-0487-B54F-7490-E16A2108D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52" y="4388300"/>
            <a:ext cx="9239250" cy="91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2456EA-F723-A2BA-C5F5-A97FF065E323}"/>
              </a:ext>
            </a:extLst>
          </p:cNvPr>
          <p:cNvSpPr/>
          <p:nvPr/>
        </p:nvSpPr>
        <p:spPr>
          <a:xfrm>
            <a:off x="931252" y="4867230"/>
            <a:ext cx="4243754" cy="5045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5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5B879-9D58-BE4C-EC6B-96E1FC93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9996-8F83-4AAE-4A51-9E9D1274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07"/>
            <a:ext cx="10515600" cy="1325563"/>
          </a:xfrm>
        </p:spPr>
        <p:txBody>
          <a:bodyPr/>
          <a:lstStyle/>
          <a:p>
            <a:r>
              <a:rPr lang="en-US" dirty="0"/>
              <a:t>I2C Placement </a:t>
            </a:r>
            <a:r>
              <a:rPr lang="en-US" dirty="0" err="1"/>
              <a:t>và</a:t>
            </a:r>
            <a:r>
              <a:rPr lang="en-US" dirty="0"/>
              <a:t> Routing (</a:t>
            </a:r>
            <a:r>
              <a:rPr lang="en-US" dirty="0" err="1"/>
              <a:t>PnR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84136-482D-8BC3-0CDE-A0EF0F996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090"/>
            <a:ext cx="10515600" cy="50593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Klayout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GDS</a:t>
            </a:r>
          </a:p>
        </p:txBody>
      </p:sp>
      <p:pic>
        <p:nvPicPr>
          <p:cNvPr id="4098" name="Picture 2" descr="The_final_layout">
            <a:extLst>
              <a:ext uri="{FF2B5EF4-FFF2-40B4-BE49-F238E27FC236}">
                <a16:creationId xmlns:a16="http://schemas.microsoft.com/office/drawing/2014/main" id="{42E415E1-E104-CD51-B3BE-A1F7C6C34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154" y="928435"/>
            <a:ext cx="6523893" cy="592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20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184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I2C Placement và Routing (PnR)</vt:lpstr>
      <vt:lpstr>I2C Placement và Routing (PnR)</vt:lpstr>
      <vt:lpstr>I2C Placement và Routing (PnR)</vt:lpstr>
      <vt:lpstr>I2C Placement và Routing (PnR)</vt:lpstr>
      <vt:lpstr>I2C Placement và Routing (PnR)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Tran Phan Quang</dc:creator>
  <cp:lastModifiedBy>NGUYEN MINH DUC</cp:lastModifiedBy>
  <cp:revision>2</cp:revision>
  <dcterms:created xsi:type="dcterms:W3CDTF">2026-04-11T15:13:47Z</dcterms:created>
  <dcterms:modified xsi:type="dcterms:W3CDTF">2026-04-13T01:44:17Z</dcterms:modified>
</cp:coreProperties>
</file>